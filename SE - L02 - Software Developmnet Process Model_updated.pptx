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2"/>
  </p:notesMasterIdLst>
  <p:sldIdLst>
    <p:sldId id="256" r:id="rId2"/>
    <p:sldId id="293" r:id="rId3"/>
    <p:sldId id="296" r:id="rId4"/>
    <p:sldId id="298" r:id="rId5"/>
    <p:sldId id="299" r:id="rId6"/>
    <p:sldId id="303" r:id="rId7"/>
    <p:sldId id="295" r:id="rId8"/>
    <p:sldId id="311" r:id="rId9"/>
    <p:sldId id="312" r:id="rId10"/>
    <p:sldId id="31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40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165AAA-5E81-4B6B-94AD-43B318F38315}" v="10" dt="2025-11-04T02:06:57.6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kat Baul" userId="dae859d7-ea3e-4a5d-83a1-d953f3940120" providerId="ADAL" clId="{E3DD0F88-8A1D-469E-9A4D-0D864E33DB38}"/>
    <pc:docChg chg="undo redo custSel modSld">
      <pc:chgData name="Saikat Baul" userId="dae859d7-ea3e-4a5d-83a1-d953f3940120" providerId="ADAL" clId="{E3DD0F88-8A1D-469E-9A4D-0D864E33DB38}" dt="2025-03-10T03:43:41.651" v="181" actId="207"/>
      <pc:docMkLst>
        <pc:docMk/>
      </pc:docMkLst>
      <pc:sldChg chg="modSp mod">
        <pc:chgData name="Saikat Baul" userId="dae859d7-ea3e-4a5d-83a1-d953f3940120" providerId="ADAL" clId="{E3DD0F88-8A1D-469E-9A4D-0D864E33DB38}" dt="2025-03-01T08:39:47.323" v="23" actId="1076"/>
        <pc:sldMkLst>
          <pc:docMk/>
          <pc:sldMk cId="2664565021" sldId="256"/>
        </pc:sldMkLst>
      </pc:sldChg>
      <pc:sldChg chg="modSp mod">
        <pc:chgData name="Saikat Baul" userId="dae859d7-ea3e-4a5d-83a1-d953f3940120" providerId="ADAL" clId="{E3DD0F88-8A1D-469E-9A4D-0D864E33DB38}" dt="2025-03-03T14:06:46.512" v="28" actId="14100"/>
        <pc:sldMkLst>
          <pc:docMk/>
          <pc:sldMk cId="3411684674" sldId="293"/>
        </pc:sldMkLst>
      </pc:sldChg>
      <pc:sldChg chg="modSp mod">
        <pc:chgData name="Saikat Baul" userId="dae859d7-ea3e-4a5d-83a1-d953f3940120" providerId="ADAL" clId="{E3DD0F88-8A1D-469E-9A4D-0D864E33DB38}" dt="2025-03-03T16:54:26.759" v="33" actId="14100"/>
        <pc:sldMkLst>
          <pc:docMk/>
          <pc:sldMk cId="3925133192" sldId="298"/>
        </pc:sldMkLst>
      </pc:sldChg>
      <pc:sldChg chg="addSp delSp modSp mod modNotesTx">
        <pc:chgData name="Saikat Baul" userId="dae859d7-ea3e-4a5d-83a1-d953f3940120" providerId="ADAL" clId="{E3DD0F88-8A1D-469E-9A4D-0D864E33DB38}" dt="2025-03-08T13:56:35.636" v="145" actId="20577"/>
        <pc:sldMkLst>
          <pc:docMk/>
          <pc:sldMk cId="1632695831" sldId="300"/>
        </pc:sldMkLst>
      </pc:sldChg>
      <pc:sldChg chg="modSp mod">
        <pc:chgData name="Saikat Baul" userId="dae859d7-ea3e-4a5d-83a1-d953f3940120" providerId="ADAL" clId="{E3DD0F88-8A1D-469E-9A4D-0D864E33DB38}" dt="2025-03-08T14:01:51.404" v="180" actId="20577"/>
        <pc:sldMkLst>
          <pc:docMk/>
          <pc:sldMk cId="2476521425" sldId="304"/>
        </pc:sldMkLst>
      </pc:sldChg>
      <pc:sldChg chg="modSp mod">
        <pc:chgData name="Saikat Baul" userId="dae859d7-ea3e-4a5d-83a1-d953f3940120" providerId="ADAL" clId="{E3DD0F88-8A1D-469E-9A4D-0D864E33DB38}" dt="2025-03-10T03:43:41.651" v="181" actId="207"/>
        <pc:sldMkLst>
          <pc:docMk/>
          <pc:sldMk cId="300910314" sldId="307"/>
        </pc:sldMkLst>
      </pc:sldChg>
    </pc:docChg>
  </pc:docChgLst>
  <pc:docChgLst>
    <pc:chgData name="MD. RAIHAN MAHMUD" userId="4a62f7df-4410-48f1-90fd-18890a1620a6" providerId="ADAL" clId="{199ABB1F-63E5-4F98-A4AD-82979F3C4904}"/>
    <pc:docChg chg="custSel modSld">
      <pc:chgData name="MD. RAIHAN MAHMUD" userId="4a62f7df-4410-48f1-90fd-18890a1620a6" providerId="ADAL" clId="{199ABB1F-63E5-4F98-A4AD-82979F3C4904}" dt="2025-10-29T09:24:10.135" v="7" actId="1076"/>
      <pc:docMkLst>
        <pc:docMk/>
      </pc:docMkLst>
      <pc:sldChg chg="delSp modSp mod">
        <pc:chgData name="MD. RAIHAN MAHMUD" userId="4a62f7df-4410-48f1-90fd-18890a1620a6" providerId="ADAL" clId="{199ABB1F-63E5-4F98-A4AD-82979F3C4904}" dt="2025-10-29T09:24:10.135" v="7" actId="1076"/>
        <pc:sldMkLst>
          <pc:docMk/>
          <pc:sldMk cId="2664565021" sldId="256"/>
        </pc:sldMkLst>
        <pc:spChg chg="mod">
          <ac:chgData name="MD. RAIHAN MAHMUD" userId="4a62f7df-4410-48f1-90fd-18890a1620a6" providerId="ADAL" clId="{199ABB1F-63E5-4F98-A4AD-82979F3C4904}" dt="2025-10-29T09:24:10.135" v="7" actId="1076"/>
          <ac:spMkLst>
            <pc:docMk/>
            <pc:sldMk cId="2664565021" sldId="256"/>
            <ac:spMk id="24" creationId="{C2082529-78D7-4EA7-BFF9-A1D1F62040C8}"/>
          </ac:spMkLst>
        </pc:spChg>
      </pc:sldChg>
      <pc:sldChg chg="modSp">
        <pc:chgData name="MD. RAIHAN MAHMUD" userId="4a62f7df-4410-48f1-90fd-18890a1620a6" providerId="ADAL" clId="{199ABB1F-63E5-4F98-A4AD-82979F3C4904}" dt="2025-10-29T09:23:13.231" v="4"/>
        <pc:sldMkLst>
          <pc:docMk/>
          <pc:sldMk cId="3411684674" sldId="293"/>
        </pc:sldMkLst>
        <pc:spChg chg="mod">
          <ac:chgData name="MD. RAIHAN MAHMUD" userId="4a62f7df-4410-48f1-90fd-18890a1620a6" providerId="ADAL" clId="{199ABB1F-63E5-4F98-A4AD-82979F3C4904}" dt="2025-10-29T09:23:13.231" v="4"/>
          <ac:spMkLst>
            <pc:docMk/>
            <pc:sldMk cId="3411684674" sldId="293"/>
            <ac:spMk id="6" creationId="{00000000-0000-0000-0000-000000000000}"/>
          </ac:spMkLst>
        </pc:spChg>
      </pc:sldChg>
      <pc:sldChg chg="modSp">
        <pc:chgData name="MD. RAIHAN MAHMUD" userId="4a62f7df-4410-48f1-90fd-18890a1620a6" providerId="ADAL" clId="{199ABB1F-63E5-4F98-A4AD-82979F3C4904}" dt="2025-10-29T09:23:13.231" v="4"/>
        <pc:sldMkLst>
          <pc:docMk/>
          <pc:sldMk cId="1373323169" sldId="295"/>
        </pc:sldMkLst>
        <pc:spChg chg="mod">
          <ac:chgData name="MD. RAIHAN MAHMUD" userId="4a62f7df-4410-48f1-90fd-18890a1620a6" providerId="ADAL" clId="{199ABB1F-63E5-4F98-A4AD-82979F3C4904}" dt="2025-10-29T09:23:13.231" v="4"/>
          <ac:spMkLst>
            <pc:docMk/>
            <pc:sldMk cId="1373323169" sldId="295"/>
            <ac:spMk id="4" creationId="{5D6D9ECC-68FF-8D7D-811B-14DD60441EAC}"/>
          </ac:spMkLst>
        </pc:spChg>
      </pc:sldChg>
      <pc:sldChg chg="modSp">
        <pc:chgData name="MD. RAIHAN MAHMUD" userId="4a62f7df-4410-48f1-90fd-18890a1620a6" providerId="ADAL" clId="{199ABB1F-63E5-4F98-A4AD-82979F3C4904}" dt="2025-10-29T09:23:13.231" v="4"/>
        <pc:sldMkLst>
          <pc:docMk/>
          <pc:sldMk cId="731836009" sldId="296"/>
        </pc:sldMkLst>
        <pc:spChg chg="mod">
          <ac:chgData name="MD. RAIHAN MAHMUD" userId="4a62f7df-4410-48f1-90fd-18890a1620a6" providerId="ADAL" clId="{199ABB1F-63E5-4F98-A4AD-82979F3C4904}" dt="2025-10-29T09:23:13.231" v="4"/>
          <ac:spMkLst>
            <pc:docMk/>
            <pc:sldMk cId="731836009" sldId="296"/>
            <ac:spMk id="3" creationId="{0A303E40-ADDA-0C78-EA84-D404D5D51F3A}"/>
          </ac:spMkLst>
        </pc:spChg>
      </pc:sldChg>
      <pc:sldChg chg="modSp">
        <pc:chgData name="MD. RAIHAN MAHMUD" userId="4a62f7df-4410-48f1-90fd-18890a1620a6" providerId="ADAL" clId="{199ABB1F-63E5-4F98-A4AD-82979F3C4904}" dt="2025-10-29T09:23:13.231" v="4"/>
        <pc:sldMkLst>
          <pc:docMk/>
          <pc:sldMk cId="3925133192" sldId="298"/>
        </pc:sldMkLst>
        <pc:spChg chg="mod">
          <ac:chgData name="MD. RAIHAN MAHMUD" userId="4a62f7df-4410-48f1-90fd-18890a1620a6" providerId="ADAL" clId="{199ABB1F-63E5-4F98-A4AD-82979F3C4904}" dt="2025-10-29T09:23:13.231" v="4"/>
          <ac:spMkLst>
            <pc:docMk/>
            <pc:sldMk cId="3925133192" sldId="298"/>
            <ac:spMk id="4" creationId="{DB2F2794-2A4A-41F1-381E-0501570FF32B}"/>
          </ac:spMkLst>
        </pc:spChg>
      </pc:sldChg>
      <pc:sldChg chg="modSp">
        <pc:chgData name="MD. RAIHAN MAHMUD" userId="4a62f7df-4410-48f1-90fd-18890a1620a6" providerId="ADAL" clId="{199ABB1F-63E5-4F98-A4AD-82979F3C4904}" dt="2025-10-29T09:23:13.231" v="4"/>
        <pc:sldMkLst>
          <pc:docMk/>
          <pc:sldMk cId="2769073409" sldId="299"/>
        </pc:sldMkLst>
        <pc:spChg chg="mod">
          <ac:chgData name="MD. RAIHAN MAHMUD" userId="4a62f7df-4410-48f1-90fd-18890a1620a6" providerId="ADAL" clId="{199ABB1F-63E5-4F98-A4AD-82979F3C4904}" dt="2025-10-29T09:23:13.231" v="4"/>
          <ac:spMkLst>
            <pc:docMk/>
            <pc:sldMk cId="2769073409" sldId="299"/>
            <ac:spMk id="4" creationId="{25CDD077-DB25-5B43-C3F8-958B39DDA0A0}"/>
          </ac:spMkLst>
        </pc:spChg>
      </pc:sldChg>
      <pc:sldChg chg="modSp">
        <pc:chgData name="MD. RAIHAN MAHMUD" userId="4a62f7df-4410-48f1-90fd-18890a1620a6" providerId="ADAL" clId="{199ABB1F-63E5-4F98-A4AD-82979F3C4904}" dt="2025-10-29T09:23:13.231" v="4"/>
        <pc:sldMkLst>
          <pc:docMk/>
          <pc:sldMk cId="1567044653" sldId="303"/>
        </pc:sldMkLst>
        <pc:spChg chg="mod">
          <ac:chgData name="MD. RAIHAN MAHMUD" userId="4a62f7df-4410-48f1-90fd-18890a1620a6" providerId="ADAL" clId="{199ABB1F-63E5-4F98-A4AD-82979F3C4904}" dt="2025-10-29T09:23:13.231" v="4"/>
          <ac:spMkLst>
            <pc:docMk/>
            <pc:sldMk cId="1567044653" sldId="303"/>
            <ac:spMk id="4" creationId="{59C10A0D-78A2-BF7F-A7E4-9820261191BA}"/>
          </ac:spMkLst>
        </pc:spChg>
      </pc:sldChg>
      <pc:sldChg chg="modSp">
        <pc:chgData name="MD. RAIHAN MAHMUD" userId="4a62f7df-4410-48f1-90fd-18890a1620a6" providerId="ADAL" clId="{199ABB1F-63E5-4F98-A4AD-82979F3C4904}" dt="2025-10-29T09:23:13.231" v="4"/>
        <pc:sldMkLst>
          <pc:docMk/>
          <pc:sldMk cId="647168265" sldId="311"/>
        </pc:sldMkLst>
        <pc:spChg chg="mod">
          <ac:chgData name="MD. RAIHAN MAHMUD" userId="4a62f7df-4410-48f1-90fd-18890a1620a6" providerId="ADAL" clId="{199ABB1F-63E5-4F98-A4AD-82979F3C4904}" dt="2025-10-29T09:23:13.231" v="4"/>
          <ac:spMkLst>
            <pc:docMk/>
            <pc:sldMk cId="647168265" sldId="311"/>
            <ac:spMk id="3" creationId="{01149773-2BDA-ACC8-8895-B0E381214C7B}"/>
          </ac:spMkLst>
        </pc:spChg>
      </pc:sldChg>
      <pc:sldChg chg="modSp">
        <pc:chgData name="MD. RAIHAN MAHMUD" userId="4a62f7df-4410-48f1-90fd-18890a1620a6" providerId="ADAL" clId="{199ABB1F-63E5-4F98-A4AD-82979F3C4904}" dt="2025-10-29T09:23:13.231" v="4"/>
        <pc:sldMkLst>
          <pc:docMk/>
          <pc:sldMk cId="1561272034" sldId="312"/>
        </pc:sldMkLst>
        <pc:spChg chg="mod">
          <ac:chgData name="MD. RAIHAN MAHMUD" userId="4a62f7df-4410-48f1-90fd-18890a1620a6" providerId="ADAL" clId="{199ABB1F-63E5-4F98-A4AD-82979F3C4904}" dt="2025-10-29T09:23:13.231" v="4"/>
          <ac:spMkLst>
            <pc:docMk/>
            <pc:sldMk cId="1561272034" sldId="312"/>
            <ac:spMk id="3" creationId="{9164E10F-2430-EE4F-3CEE-3FB90BB588DA}"/>
          </ac:spMkLst>
        </pc:spChg>
      </pc:sldChg>
      <pc:sldChg chg="modSp">
        <pc:chgData name="MD. RAIHAN MAHMUD" userId="4a62f7df-4410-48f1-90fd-18890a1620a6" providerId="ADAL" clId="{199ABB1F-63E5-4F98-A4AD-82979F3C4904}" dt="2025-10-29T09:23:13.231" v="4"/>
        <pc:sldMkLst>
          <pc:docMk/>
          <pc:sldMk cId="64039236" sldId="314"/>
        </pc:sldMkLst>
        <pc:spChg chg="mod">
          <ac:chgData name="MD. RAIHAN MAHMUD" userId="4a62f7df-4410-48f1-90fd-18890a1620a6" providerId="ADAL" clId="{199ABB1F-63E5-4F98-A4AD-82979F3C4904}" dt="2025-10-29T09:23:13.231" v="4"/>
          <ac:spMkLst>
            <pc:docMk/>
            <pc:sldMk cId="64039236" sldId="314"/>
            <ac:spMk id="4" creationId="{25428DD3-CABA-9384-F30E-42C6A72F954F}"/>
          </ac:spMkLst>
        </pc:spChg>
      </pc:sldChg>
    </pc:docChg>
  </pc:docChgLst>
  <pc:docChgLst>
    <pc:chgData name="Farzana Bente Alam" userId="3f74bd13-d3c2-4c92-803f-cee23a0d21b8" providerId="ADAL" clId="{27AC36B6-6117-403C-9CA1-F33B43EB0339}"/>
    <pc:docChg chg="modSld">
      <pc:chgData name="Farzana Bente Alam" userId="3f74bd13-d3c2-4c92-803f-cee23a0d21b8" providerId="ADAL" clId="{27AC36B6-6117-403C-9CA1-F33B43EB0339}" dt="2024-11-03T06:15:54.186" v="0" actId="1036"/>
      <pc:docMkLst>
        <pc:docMk/>
      </pc:docMkLst>
      <pc:sldChg chg="modSp mod">
        <pc:chgData name="Farzana Bente Alam" userId="3f74bd13-d3c2-4c92-803f-cee23a0d21b8" providerId="ADAL" clId="{27AC36B6-6117-403C-9CA1-F33B43EB0339}" dt="2024-11-03T06:15:54.186" v="0" actId="1036"/>
        <pc:sldMkLst>
          <pc:docMk/>
          <pc:sldMk cId="1632695831" sldId="300"/>
        </pc:sldMkLst>
      </pc:sldChg>
    </pc:docChg>
  </pc:docChgLst>
  <pc:docChgLst>
    <pc:chgData name="MD. RAIHAN MAHMUD" userId="4a62f7df-4410-48f1-90fd-18890a1620a6" providerId="ADAL" clId="{B2039104-45D9-4CD2-BD34-02CB124718E6}"/>
    <pc:docChg chg="undo custSel addSld delSld modSld">
      <pc:chgData name="MD. RAIHAN MAHMUD" userId="4a62f7df-4410-48f1-90fd-18890a1620a6" providerId="ADAL" clId="{B2039104-45D9-4CD2-BD34-02CB124718E6}" dt="2025-11-04T02:06:57.668" v="9" actId="2890"/>
      <pc:docMkLst>
        <pc:docMk/>
      </pc:docMkLst>
      <pc:sldChg chg="addSp delSp modSp add del mod">
        <pc:chgData name="MD. RAIHAN MAHMUD" userId="4a62f7df-4410-48f1-90fd-18890a1620a6" providerId="ADAL" clId="{B2039104-45D9-4CD2-BD34-02CB124718E6}" dt="2025-11-04T02:06:57.668" v="9" actId="2890"/>
        <pc:sldMkLst>
          <pc:docMk/>
          <pc:sldMk cId="3899943343" sldId="315"/>
        </pc:sldMkLst>
        <pc:spChg chg="add del">
          <ac:chgData name="MD. RAIHAN MAHMUD" userId="4a62f7df-4410-48f1-90fd-18890a1620a6" providerId="ADAL" clId="{B2039104-45D9-4CD2-BD34-02CB124718E6}" dt="2025-11-04T02:06:57.093" v="8" actId="478"/>
          <ac:spMkLst>
            <pc:docMk/>
            <pc:sldMk cId="3899943343" sldId="315"/>
            <ac:spMk id="3" creationId="{A411F630-F308-B059-3D58-50F99D34814F}"/>
          </ac:spMkLst>
        </pc:spChg>
        <pc:spChg chg="add del mod">
          <ac:chgData name="MD. RAIHAN MAHMUD" userId="4a62f7df-4410-48f1-90fd-18890a1620a6" providerId="ADAL" clId="{B2039104-45D9-4CD2-BD34-02CB124718E6}" dt="2025-11-04T02:06:57.093" v="8" actId="478"/>
          <ac:spMkLst>
            <pc:docMk/>
            <pc:sldMk cId="3899943343" sldId="315"/>
            <ac:spMk id="8" creationId="{AEFBFA36-D375-90CC-D99D-0401C542396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03/11/2025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37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579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7773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Raihan.mahmud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>
                <a:solidFill>
                  <a:srgbClr val="FFFFFF"/>
                </a:solidFill>
              </a:rPr>
              <a:t>Course Name</a:t>
            </a:r>
            <a:br>
              <a:rPr lang="en-US" sz="2400" cap="all">
                <a:solidFill>
                  <a:srgbClr val="FFFFFF"/>
                </a:solidFill>
              </a:rPr>
            </a:br>
            <a:br>
              <a:rPr lang="en-US" sz="2400" cap="all">
                <a:solidFill>
                  <a:srgbClr val="FFFFFF"/>
                </a:solidFill>
              </a:rPr>
            </a:br>
            <a:r>
              <a:rPr lang="en-US" sz="2400" cap="all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>
                <a:solidFill>
                  <a:srgbClr val="C00000"/>
                </a:solidFill>
              </a:rPr>
              <a:t>Chapter 2</a:t>
            </a:r>
            <a:br>
              <a:rPr lang="en-US" sz="3000">
                <a:solidFill>
                  <a:srgbClr val="C00000"/>
                </a:solidFill>
              </a:rPr>
            </a:br>
            <a:br>
              <a:rPr lang="en-US" sz="3000">
                <a:solidFill>
                  <a:schemeClr val="tx2"/>
                </a:solidFill>
              </a:rPr>
            </a:br>
            <a:r>
              <a:rPr lang="en-US" sz="3000">
                <a:solidFill>
                  <a:schemeClr val="tx2"/>
                </a:solidFill>
              </a:rPr>
              <a:t>software development process model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8005916" y="4678590"/>
            <a:ext cx="4660900" cy="142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>
                <a:solidFill>
                  <a:srgbClr val="7030A0"/>
                </a:solidFill>
              </a:rPr>
              <a:t>MD RAIHAN MAHMUD</a:t>
            </a:r>
          </a:p>
          <a:p>
            <a:r>
              <a:rPr lang="en-US" sz="2800">
                <a:solidFill>
                  <a:schemeClr val="tx1"/>
                </a:solidFill>
              </a:rPr>
              <a:t>Lecturer, CS,  AIUB</a:t>
            </a:r>
          </a:p>
          <a:p>
            <a:r>
              <a:rPr lang="en-US" sz="2800" cap="none">
                <a:solidFill>
                  <a:schemeClr val="tx1"/>
                </a:solidFill>
                <a:hlinkClick r:id="rId3"/>
              </a:rPr>
              <a:t>raihan.mahmud@aiub.edu</a:t>
            </a:r>
            <a:r>
              <a:rPr lang="en-US" sz="2800" cap="none">
                <a:solidFill>
                  <a:schemeClr val="tx1"/>
                </a:solidFill>
              </a:rPr>
              <a:t> </a:t>
            </a:r>
            <a:endParaRPr lang="en-US" sz="3200" cap="none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3261" y="2024743"/>
            <a:ext cx="10652865" cy="223410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>
                <a:latin typeface="+mj-lt"/>
              </a:rPr>
              <a:t>A structured set of activities required to develop a software system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>
                <a:latin typeface="+mj-lt"/>
              </a:rPr>
              <a:t>A software process model is an abstract representation of a process.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>
                <a:latin typeface="+mj-lt"/>
              </a:rPr>
              <a:t>It presents a description of a process from some particular perspective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Waterfall model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65738" y="1996441"/>
            <a:ext cx="9241302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957943" y="3154016"/>
            <a:ext cx="10652865" cy="35648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2200" b="1">
                <a:latin typeface="+mj-lt"/>
                <a:cs typeface="Times New Roman" panose="02020603050405020304" pitchFamily="18" charset="0"/>
              </a:rPr>
              <a:t>The waterfall or linear sequential model </a:t>
            </a:r>
          </a:p>
          <a:p>
            <a:pPr marL="0" indent="0">
              <a:buNone/>
            </a:pPr>
            <a:r>
              <a:rPr lang="en-GB" sz="220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Problems of the Waterfall Model</a:t>
            </a:r>
            <a:r>
              <a:rPr lang="en-GB" sz="2200">
                <a:latin typeface="+mj-lt"/>
                <a:cs typeface="Times New Roman" panose="02020603050405020304" pitchFamily="18" charset="0"/>
              </a:rPr>
              <a:t>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200">
                <a:latin typeface="+mj-lt"/>
                <a:cs typeface="Times New Roman" panose="02020603050405020304" pitchFamily="18" charset="0"/>
              </a:rPr>
              <a:t>Inflexible partitioning of the project into distinct stages. The </a:t>
            </a:r>
            <a:r>
              <a:rPr lang="en-US" sz="2200">
                <a:latin typeface="+mj-lt"/>
                <a:cs typeface="Times New Roman" panose="02020603050405020304" pitchFamily="18" charset="0"/>
              </a:rPr>
              <a:t>next phase starts only after the completion of the previous phase</a:t>
            </a:r>
            <a:endParaRPr lang="en-GB" sz="2200">
              <a:latin typeface="+mj-lt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200">
                <a:latin typeface="+mj-lt"/>
                <a:cs typeface="Times New Roman" panose="02020603050405020304" pitchFamily="18" charset="0"/>
              </a:rPr>
              <a:t>This makes it difficult to respond to changing customer requirements (no backtracking)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200">
                <a:latin typeface="+mj-lt"/>
                <a:cs typeface="Times New Roman" panose="02020603050405020304" pitchFamily="18" charset="0"/>
              </a:rPr>
              <a:t>Therefore, this model is only appropriate when the requirements are well-understood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03E40-ADDA-0C78-EA84-D404D5D51F3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731836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 -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745" y="1941341"/>
            <a:ext cx="6206096" cy="4389121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>
                <a:latin typeface="+mj-lt"/>
              </a:rPr>
              <a:t>The V-model is an SDLC model in which process execution happens sequentially in a V-shape. It is also known as a </a:t>
            </a:r>
            <a:r>
              <a:rPr lang="en-US" sz="2000">
                <a:solidFill>
                  <a:srgbClr val="C00000"/>
                </a:solidFill>
                <a:latin typeface="+mj-lt"/>
              </a:rPr>
              <a:t>Verification and Validation </a:t>
            </a:r>
            <a:r>
              <a:rPr lang="en-US" sz="2000">
                <a:latin typeface="+mj-lt"/>
              </a:rPr>
              <a:t>model.</a:t>
            </a:r>
          </a:p>
          <a:p>
            <a:pPr>
              <a:buFont typeface="Wingdings" pitchFamily="2" charset="2"/>
              <a:buChar char="q"/>
            </a:pPr>
            <a:r>
              <a:rPr lang="en-US" sz="2000">
                <a:latin typeface="+mj-lt"/>
              </a:rPr>
              <a:t>V-Model is an extension of the waterfall model and is based on an association of a </a:t>
            </a:r>
            <a:r>
              <a:rPr lang="en-US" sz="2000">
                <a:solidFill>
                  <a:srgbClr val="C00000"/>
                </a:solidFill>
                <a:latin typeface="+mj-lt"/>
              </a:rPr>
              <a:t>testing phase </a:t>
            </a:r>
            <a:r>
              <a:rPr lang="en-US" sz="2000">
                <a:latin typeface="+mj-lt"/>
              </a:rPr>
              <a:t>for each corresponding development stage. This means that every single phase in the development cycle has a directly associated testing phase.</a:t>
            </a:r>
          </a:p>
          <a:p>
            <a:pPr>
              <a:buFont typeface="Wingdings" pitchFamily="2" charset="2"/>
              <a:buChar char="q"/>
            </a:pPr>
            <a:r>
              <a:rPr lang="en-US" sz="2000">
                <a:latin typeface="+mj-lt"/>
              </a:rPr>
              <a:t>This is a highly disciplined model, and the next phase starts only after the completion of the previous phase.</a:t>
            </a:r>
            <a:endParaRPr lang="en-GB" sz="200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7040011" y="2330539"/>
            <a:ext cx="4726166" cy="3637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2F2794-2A4A-41F1-381E-0501570FF32B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3925133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Prototyping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567" y="1887565"/>
            <a:ext cx="6492109" cy="471201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GB" sz="2200">
                <a:latin typeface="+mj-lt"/>
              </a:rPr>
              <a:t>Requirements are not precise, and the p</a:t>
            </a:r>
            <a:r>
              <a:rPr lang="en-GB" sz="2200"/>
              <a:t>rototype serves as a mechanism for identifying software requirements</a:t>
            </a:r>
            <a:endParaRPr lang="en-GB" sz="220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GB" sz="2200">
                <a:latin typeface="+mj-lt"/>
              </a:rPr>
              <a:t>Iteration occurs as the prototype is tuned to satisfy the needs of the customer</a:t>
            </a:r>
          </a:p>
          <a:p>
            <a:pPr>
              <a:buFont typeface="Wingdings" pitchFamily="2" charset="2"/>
              <a:buChar char="q"/>
            </a:pPr>
            <a:r>
              <a:rPr lang="en-GB" sz="2200"/>
              <a:t>System requirements ALWAYS evolve during a project, so process iteration is proper where earlier stages are reworked and is always part of the process for large systems</a:t>
            </a:r>
            <a:endParaRPr lang="en-GB" sz="220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61676" y="1887565"/>
            <a:ext cx="4254944" cy="3664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CDD077-DB25-5B43-C3F8-958B39DDA0A0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2769073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58955"/>
            <a:ext cx="11029616" cy="1013800"/>
          </a:xfrm>
        </p:spPr>
        <p:txBody>
          <a:bodyPr>
            <a:normAutofit/>
          </a:bodyPr>
          <a:lstStyle/>
          <a:p>
            <a:r>
              <a:rPr lang="en-GB"/>
              <a:t>Incremental development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55" y="1920241"/>
            <a:ext cx="11109622" cy="2129244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>
                <a:latin typeface="+mj-lt"/>
              </a:rPr>
              <a:t>Rather than </a:t>
            </a:r>
            <a:r>
              <a:rPr lang="en-US" sz="2000">
                <a:latin typeface="+mj-lt"/>
              </a:rPr>
              <a:t>delivering the system as a single delivery, development and </a:t>
            </a:r>
            <a:r>
              <a:rPr lang="en-US" sz="2000">
                <a:solidFill>
                  <a:srgbClr val="C00000"/>
                </a:solidFill>
                <a:latin typeface="+mj-lt"/>
              </a:rPr>
              <a:t>delivery are broken down into increments,</a:t>
            </a:r>
            <a:r>
              <a:rPr lang="en-GB" sz="2000">
                <a:latin typeface="+mj-lt"/>
              </a:rPr>
              <a:t> with each increment delivering part of the required functionality (SPIRAL). 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>
                <a:latin typeface="+mj-lt"/>
              </a:rPr>
              <a:t>T</a:t>
            </a:r>
            <a:r>
              <a:rPr lang="en-US" sz="2000"/>
              <a:t>he requirements are relatively certain but there are many complexities that leads to frequent changes.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>
                <a:latin typeface="+mj-lt"/>
              </a:rPr>
              <a:t>User requirements are prioritized, and the </a:t>
            </a:r>
            <a:r>
              <a:rPr lang="en-GB" sz="2000">
                <a:solidFill>
                  <a:srgbClr val="C00000"/>
                </a:solidFill>
                <a:latin typeface="+mj-lt"/>
              </a:rPr>
              <a:t>highest priority requirements</a:t>
            </a:r>
            <a:r>
              <a:rPr lang="en-GB" sz="2000">
                <a:latin typeface="+mj-lt"/>
              </a:rPr>
              <a:t> are included in early increments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>
                <a:latin typeface="+mj-lt"/>
              </a:rPr>
              <a:t>Once the development of an increment is started, the </a:t>
            </a:r>
            <a:r>
              <a:rPr lang="en-GB" sz="2000">
                <a:solidFill>
                  <a:srgbClr val="C00000"/>
                </a:solidFill>
                <a:latin typeface="+mj-lt"/>
              </a:rPr>
              <a:t>requirements are frozen</a:t>
            </a:r>
            <a:r>
              <a:rPr lang="en-GB" sz="2000">
                <a:latin typeface="+mj-lt"/>
              </a:rPr>
              <a:t> though requirements for later increments can continue to evolve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7" name="Group 12"/>
          <p:cNvGrpSpPr>
            <a:grpSpLocks/>
          </p:cNvGrpSpPr>
          <p:nvPr/>
        </p:nvGrpSpPr>
        <p:grpSpPr bwMode="auto">
          <a:xfrm>
            <a:off x="3801291" y="4271554"/>
            <a:ext cx="6489700" cy="570410"/>
            <a:chOff x="960" y="1248"/>
            <a:chExt cx="4088" cy="432"/>
          </a:xfrm>
        </p:grpSpPr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Design</a:t>
              </a: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Code</a:t>
              </a: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Test</a:t>
              </a: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4176" y="1248"/>
              <a:ext cx="87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Calibri" pitchFamily="34" charset="0"/>
                </a:rPr>
                <a:t>Delivery</a:t>
              </a:r>
            </a:p>
            <a:p>
              <a:r>
                <a:rPr lang="en-GB">
                  <a:latin typeface="Calibri" pitchFamily="34" charset="0"/>
                </a:rPr>
                <a:t>increment #1</a:t>
              </a:r>
            </a:p>
          </p:txBody>
        </p:sp>
      </p:grpSp>
      <p:sp>
        <p:nvSpPr>
          <p:cNvPr id="13" name="Line 9"/>
          <p:cNvSpPr>
            <a:spLocks noChangeShapeType="1"/>
          </p:cNvSpPr>
          <p:nvPr/>
        </p:nvSpPr>
        <p:spPr bwMode="auto">
          <a:xfrm flipH="1">
            <a:off x="3572690" y="4284616"/>
            <a:ext cx="45719" cy="225747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3572691" y="6553200"/>
            <a:ext cx="76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6909616" y="6553200"/>
            <a:ext cx="11874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>
                <a:latin typeface="Calibri" pitchFamily="34" charset="0"/>
              </a:rPr>
              <a:t>Calendar time</a:t>
            </a:r>
          </a:p>
        </p:txBody>
      </p:sp>
      <p:grpSp>
        <p:nvGrpSpPr>
          <p:cNvPr id="16" name="Group 13"/>
          <p:cNvGrpSpPr>
            <a:grpSpLocks/>
          </p:cNvGrpSpPr>
          <p:nvPr/>
        </p:nvGrpSpPr>
        <p:grpSpPr bwMode="auto">
          <a:xfrm>
            <a:off x="4638261" y="4976949"/>
            <a:ext cx="6808793" cy="677091"/>
            <a:chOff x="960" y="1248"/>
            <a:chExt cx="4088" cy="432"/>
          </a:xfrm>
        </p:grpSpPr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Design</a:t>
              </a:r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Code</a:t>
              </a:r>
            </a:p>
          </p:txBody>
        </p:sp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Test</a:t>
              </a:r>
            </a:p>
          </p:txBody>
        </p:sp>
        <p:sp>
          <p:nvSpPr>
            <p:cNvPr id="21" name="Text Box 18"/>
            <p:cNvSpPr txBox="1">
              <a:spLocks noChangeArrowheads="1"/>
            </p:cNvSpPr>
            <p:nvPr/>
          </p:nvSpPr>
          <p:spPr bwMode="auto">
            <a:xfrm>
              <a:off x="4176" y="1248"/>
              <a:ext cx="87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Calibri" pitchFamily="34" charset="0"/>
                </a:rPr>
                <a:t>Delivery</a:t>
              </a:r>
            </a:p>
            <a:p>
              <a:r>
                <a:rPr lang="en-GB">
                  <a:latin typeface="Calibri" pitchFamily="34" charset="0"/>
                </a:rPr>
                <a:t>increment #2</a:t>
              </a:r>
            </a:p>
          </p:txBody>
        </p:sp>
      </p:grpSp>
      <p:grpSp>
        <p:nvGrpSpPr>
          <p:cNvPr id="22" name="Group 19"/>
          <p:cNvGrpSpPr>
            <a:grpSpLocks/>
          </p:cNvGrpSpPr>
          <p:nvPr/>
        </p:nvGrpSpPr>
        <p:grpSpPr bwMode="auto">
          <a:xfrm>
            <a:off x="5406887" y="5865222"/>
            <a:ext cx="6552652" cy="535577"/>
            <a:chOff x="960" y="1248"/>
            <a:chExt cx="3931" cy="432"/>
          </a:xfrm>
        </p:grpSpPr>
        <p:sp>
          <p:nvSpPr>
            <p:cNvPr id="23" name="Rectangle 20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24" name="Rectangle 21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Design</a:t>
              </a:r>
            </a:p>
          </p:txBody>
        </p:sp>
        <p:sp>
          <p:nvSpPr>
            <p:cNvPr id="25" name="Rectangle 22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Code</a:t>
              </a:r>
            </a:p>
          </p:txBody>
        </p:sp>
        <p:sp>
          <p:nvSpPr>
            <p:cNvPr id="26" name="Rectangle 23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Test</a:t>
              </a:r>
            </a:p>
          </p:txBody>
        </p:sp>
        <p:sp>
          <p:nvSpPr>
            <p:cNvPr id="27" name="Text Box 24"/>
            <p:cNvSpPr txBox="1">
              <a:spLocks noChangeArrowheads="1"/>
            </p:cNvSpPr>
            <p:nvPr/>
          </p:nvSpPr>
          <p:spPr bwMode="auto">
            <a:xfrm>
              <a:off x="4108" y="1248"/>
              <a:ext cx="783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>
                  <a:latin typeface="Calibri" pitchFamily="34" charset="0"/>
                </a:rPr>
                <a:t>Delivery #3</a:t>
              </a:r>
            </a:p>
          </p:txBody>
        </p:sp>
      </p:grp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9C10A0D-78A2-BF7F-A7E4-9820261191B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1567044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Rapid Application Development (RAD)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2024743"/>
            <a:ext cx="10652865" cy="4349931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sz="2000"/>
              <a:t>It is a type of incremental model. The developments are time-boxed, delivered, and then assembled into a working  prototype</a:t>
            </a:r>
          </a:p>
          <a:p>
            <a:pPr>
              <a:buFont typeface="Wingdings" pitchFamily="2" charset="2"/>
              <a:buChar char="q"/>
            </a:pPr>
            <a:r>
              <a:rPr lang="en-US" sz="2000"/>
              <a:t>In the RAD model, the components or functions are </a:t>
            </a:r>
            <a:r>
              <a:rPr lang="en-US" sz="2000">
                <a:solidFill>
                  <a:srgbClr val="C00000"/>
                </a:solidFill>
              </a:rPr>
              <a:t>developed in parallel </a:t>
            </a:r>
            <a:r>
              <a:rPr lang="en-US" sz="2000"/>
              <a:t>as if they were mini projects (frozen requirements in each increment)</a:t>
            </a:r>
          </a:p>
          <a:p>
            <a:pPr>
              <a:buFont typeface="Wingdings" pitchFamily="2" charset="2"/>
              <a:buChar char="q"/>
            </a:pPr>
            <a:r>
              <a:rPr lang="en-US" sz="2000"/>
              <a:t> This can quickly give the customer something to see and use and to provide feedback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/>
              <a:t>Delivers a fully functional system in </a:t>
            </a:r>
            <a:r>
              <a:rPr lang="en-GB" altLang="en-US" sz="2000">
                <a:solidFill>
                  <a:srgbClr val="C00000"/>
                </a:solidFill>
              </a:rPr>
              <a:t>90 days</a:t>
            </a:r>
            <a:r>
              <a:rPr lang="en-GB" altLang="en-US" sz="2000"/>
              <a:t>, give or take 30 days</a:t>
            </a:r>
            <a:r>
              <a:rPr lang="en-US" sz="2000"/>
              <a:t> 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altLang="en-US" sz="2000"/>
              <a:t>Phases of RAD are: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>
                <a:solidFill>
                  <a:srgbClr val="0070C0"/>
                </a:solidFill>
              </a:rPr>
              <a:t>Requirements Planning 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>
                <a:solidFill>
                  <a:srgbClr val="0070C0"/>
                </a:solidFill>
              </a:rPr>
              <a:t>User Design </a:t>
            </a:r>
            <a:r>
              <a:rPr lang="en-GB" altLang="en-US" sz="2000"/>
              <a:t>(user interacts with the system analysts)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>
                <a:solidFill>
                  <a:srgbClr val="0070C0"/>
                </a:solidFill>
              </a:rPr>
              <a:t>Construction</a:t>
            </a:r>
            <a:r>
              <a:rPr lang="en-GB" altLang="en-US" sz="2000">
                <a:solidFill>
                  <a:srgbClr val="FF0000"/>
                </a:solidFill>
              </a:rPr>
              <a:t> </a:t>
            </a:r>
            <a:r>
              <a:rPr lang="en-GB" altLang="en-US" sz="2000"/>
              <a:t> (program and application development)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>
                <a:solidFill>
                  <a:srgbClr val="0070C0"/>
                </a:solidFill>
              </a:rPr>
              <a:t>Cutover</a:t>
            </a:r>
            <a:r>
              <a:rPr lang="en-GB" altLang="en-US" sz="2000">
                <a:solidFill>
                  <a:srgbClr val="FF0000"/>
                </a:solidFill>
              </a:rPr>
              <a:t> </a:t>
            </a:r>
            <a:r>
              <a:rPr lang="en-GB" altLang="en-US" sz="2000"/>
              <a:t>(testing, changeover to new system, user training)</a:t>
            </a:r>
            <a:endParaRPr lang="en-US" sz="2200" b="1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64714" cy="1053864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6D9ECC-68FF-8D7D-811B-14DD60441EAC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1373323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Rational Unified Process (RUP)</a:t>
            </a:r>
            <a:endParaRPr lang="en-US">
              <a:latin typeface="Bell MT" pitchFamily="18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37" y="1920239"/>
            <a:ext cx="11299372" cy="4715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49773-2BDA-ACC8-8895-B0E381214C7B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647168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Risk profile</a:t>
            </a:r>
            <a:endParaRPr lang="en-US">
              <a:latin typeface="Bell MT" pitchFamily="18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39537" y="1854925"/>
            <a:ext cx="8279674" cy="4781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4E10F-2430-EE4F-3CEE-3FB90BB588D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1561272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>
                <a:ea typeface="ＭＳ Ｐゴシック" pitchFamily="34" charset="-128"/>
              </a:rPr>
              <a:t>R.S. Pressman &amp; Associates, Inc. (2010). </a:t>
            </a:r>
            <a:r>
              <a:rPr lang="en-US" sz="2000" i="1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/>
              <a:t>Kelly, J. C., </a:t>
            </a:r>
            <a:r>
              <a:rPr lang="en-US" sz="2000" err="1"/>
              <a:t>Sherif</a:t>
            </a:r>
            <a:r>
              <a:rPr lang="en-US" sz="2000"/>
              <a:t>, J. S., &amp; Hops, J. (1992). An analysis of defect densities found during software inspections. </a:t>
            </a:r>
            <a:r>
              <a:rPr lang="en-US" sz="2000" i="1"/>
              <a:t>Journal of Systems and Software</a:t>
            </a:r>
            <a:r>
              <a:rPr lang="en-US" sz="2000"/>
              <a:t>, </a:t>
            </a:r>
            <a:r>
              <a:rPr lang="en-US" sz="2000" i="1"/>
              <a:t>17</a:t>
            </a:r>
            <a:r>
              <a:rPr lang="en-US" sz="2000"/>
              <a:t>(2), 111-117.</a:t>
            </a:r>
          </a:p>
          <a:p>
            <a:pPr>
              <a:defRPr/>
            </a:pPr>
            <a:r>
              <a:rPr lang="en-US" sz="2000"/>
              <a:t>Bhandari, I., Halliday, M. J., </a:t>
            </a:r>
            <a:r>
              <a:rPr lang="en-US" sz="2000" err="1"/>
              <a:t>Chaar</a:t>
            </a:r>
            <a:r>
              <a:rPr lang="en-US" sz="2000"/>
              <a:t>, J., </a:t>
            </a:r>
            <a:r>
              <a:rPr lang="en-US" sz="2000" err="1"/>
              <a:t>Chillarege</a:t>
            </a:r>
            <a:r>
              <a:rPr lang="en-US" sz="2000"/>
              <a:t>, R., Jones, K., Atkinson, J. S., &amp; </a:t>
            </a:r>
            <a:r>
              <a:rPr lang="en-US" sz="2000" err="1"/>
              <a:t>Yonezawa</a:t>
            </a:r>
            <a:r>
              <a:rPr lang="en-US" sz="2000"/>
              <a:t>, M. (1994).</a:t>
            </a:r>
            <a:br>
              <a:rPr lang="en-US" sz="2000"/>
            </a:br>
            <a:r>
              <a:rPr lang="en-US" sz="2000"/>
              <a:t>In-process improvement through defect data interpretation. </a:t>
            </a:r>
            <a:r>
              <a:rPr lang="en-US" sz="2000" i="1"/>
              <a:t>IBM Systems Journal</a:t>
            </a:r>
            <a:r>
              <a:rPr lang="en-US" sz="2000"/>
              <a:t>, </a:t>
            </a:r>
            <a:r>
              <a:rPr lang="en-US" sz="2000" i="1"/>
              <a:t>33</a:t>
            </a:r>
            <a:r>
              <a:rPr lang="en-US" sz="2000"/>
              <a:t>(1), 182-214.</a:t>
            </a:r>
            <a:endParaRPr lang="en-US" sz="200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428DD3-CABA-9384-F30E-42C6A72F954F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Dividend</vt:lpstr>
      <vt:lpstr>PowerPoint Presentation</vt:lpstr>
      <vt:lpstr>Software process</vt:lpstr>
      <vt:lpstr>Waterfall model</vt:lpstr>
      <vt:lpstr>V - model</vt:lpstr>
      <vt:lpstr>Prototyping model</vt:lpstr>
      <vt:lpstr>Incremental development</vt:lpstr>
      <vt:lpstr>Rapid Application Development (RAD)</vt:lpstr>
      <vt:lpstr>Rational Unified Process (RUP)</vt:lpstr>
      <vt:lpstr>Risk profile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Ch.02 - Software Developmnet Process Model</dc:title>
  <dc:subject>Software Engineering</dc:subject>
  <dc:creator>M. Mahmudul Hasan</dc:creator>
  <cp:revision>1</cp:revision>
  <dcterms:created xsi:type="dcterms:W3CDTF">2019-05-13T08:37:20Z</dcterms:created>
  <dcterms:modified xsi:type="dcterms:W3CDTF">2025-11-04T02:07:32Z</dcterms:modified>
</cp:coreProperties>
</file>